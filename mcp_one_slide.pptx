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9" d="100"/>
          <a:sy n="139" d="100"/>
        </p:scale>
        <p:origin x="90" y="6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5050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381000" y="31998"/>
            <a:ext cx="3638550" cy="2571750"/>
          </a:xfrm>
          <a:prstGeom prst="roundRect">
            <a:avLst>
              <a:gd name="adj" fmla="val 85333"/>
            </a:avLst>
          </a:prstGeom>
          <a:solidFill>
            <a:srgbClr val="FFFFFF">
              <a:alpha val="92000"/>
            </a:srgbClr>
          </a:solidFill>
          <a:ln w="9525">
            <a:solidFill>
              <a:srgbClr val="102033"/>
            </a:solidFill>
          </a:ln>
          <a:effectLst>
            <a:outerShdw blurRad="476250" dist="171450" dir="5400000" algn="bl" rotWithShape="0">
              <a:srgbClr val="1E40AF">
                <a:alpha val="8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19125" y="584448"/>
            <a:ext cx="1066800" cy="857250"/>
          </a:xfrm>
          <a:prstGeom prst="roundRect">
            <a:avLst>
              <a:gd name="adj" fmla="val 170667"/>
            </a:avLst>
          </a:prstGeom>
          <a:solidFill>
            <a:srgbClr val="EEF6FF"/>
          </a:solidFill>
          <a:ln w="9525">
            <a:solidFill>
              <a:srgbClr val="D9E8FB"/>
            </a:solidFill>
          </a:ln>
        </p:spPr>
        <p:txBody>
          <a:bodyPr wrap="none" lIns="0" tIns="0" rIns="0" bIns="0" rtlCol="0" anchor="ctr">
            <a:normAutofit/>
          </a:bodyPr>
          <a:lstStyle/>
          <a:p>
            <a:pPr marL="0" indent="0">
              <a:buNone/>
            </a:pPr>
            <a:endParaRPr lang="en-US" dirty="0"/>
          </a:p>
        </p:txBody>
      </p:sp>
      <p:sp>
        <p:nvSpPr>
          <p:cNvPr id="4" name="Text 2"/>
          <p:cNvSpPr/>
          <p:nvPr/>
        </p:nvSpPr>
        <p:spPr>
          <a:xfrm>
            <a:off x="1800225" y="584448"/>
            <a:ext cx="981075" cy="857250"/>
          </a:xfrm>
          <a:prstGeom prst="roundRect">
            <a:avLst>
              <a:gd name="adj" fmla="val 170667"/>
            </a:avLst>
          </a:prstGeom>
          <a:solidFill>
            <a:srgbClr val="EEF6FF"/>
          </a:solidFill>
          <a:ln w="9525">
            <a:solidFill>
              <a:srgbClr val="D9E8FB"/>
            </a:solidFill>
          </a:ln>
        </p:spPr>
        <p:txBody>
          <a:bodyPr wrap="none" lIns="0" tIns="0" rIns="0" bIns="0" rtlCol="0" anchor="ctr">
            <a:normAutofit/>
          </a:bodyPr>
          <a:lstStyle/>
          <a:p>
            <a:pPr marL="0" indent="0">
              <a:buNone/>
            </a:pPr>
            <a:endParaRPr lang="en-US" dirty="0"/>
          </a:p>
        </p:txBody>
      </p:sp>
      <p:sp>
        <p:nvSpPr>
          <p:cNvPr id="5" name="Text 3"/>
          <p:cNvSpPr/>
          <p:nvPr/>
        </p:nvSpPr>
        <p:spPr>
          <a:xfrm>
            <a:off x="2895600" y="584448"/>
            <a:ext cx="885825" cy="857250"/>
          </a:xfrm>
          <a:prstGeom prst="roundRect">
            <a:avLst>
              <a:gd name="adj" fmla="val 170667"/>
            </a:avLst>
          </a:prstGeom>
          <a:solidFill>
            <a:srgbClr val="EEF6FF"/>
          </a:solidFill>
          <a:ln w="9525">
            <a:solidFill>
              <a:srgbClr val="D9E8FB"/>
            </a:solidFill>
          </a:ln>
        </p:spPr>
        <p:txBody>
          <a:bodyPr wrap="none" lIns="0" tIns="0" rIns="0" bIns="0" rtlCol="0" anchor="ctr">
            <a:normAutofit/>
          </a:bodyPr>
          <a:lstStyle/>
          <a:p>
            <a:pPr marL="0" indent="0">
              <a:buNone/>
            </a:pPr>
            <a:endParaRPr lang="en-US" dirty="0"/>
          </a:p>
        </p:txBody>
      </p:sp>
      <p:pic>
        <p:nvPicPr>
          <p:cNvPr id="6" name="Image 0" descr="preencoded.png"/>
          <p:cNvPicPr>
            <a:picLocks noChangeAspect="1"/>
          </p:cNvPicPr>
          <p:nvPr/>
        </p:nvPicPr>
        <p:blipFill>
          <a:blip r:embed="rId3"/>
          <a:stretch>
            <a:fillRect/>
          </a:stretch>
        </p:blipFill>
        <p:spPr>
          <a:xfrm>
            <a:off x="4171950" y="1289298"/>
            <a:ext cx="147489" cy="57150"/>
          </a:xfrm>
          <a:prstGeom prst="rect">
            <a:avLst/>
          </a:prstGeom>
        </p:spPr>
      </p:pic>
      <p:sp>
        <p:nvSpPr>
          <p:cNvPr id="7" name="Text 4"/>
          <p:cNvSpPr/>
          <p:nvPr/>
        </p:nvSpPr>
        <p:spPr>
          <a:xfrm>
            <a:off x="4478983" y="-59829"/>
            <a:ext cx="1790700" cy="2571750"/>
          </a:xfrm>
          <a:prstGeom prst="roundRect">
            <a:avLst>
              <a:gd name="adj" fmla="val 122553"/>
            </a:avLst>
          </a:prstGeom>
          <a:solidFill>
            <a:srgbClr val="FFFFFF">
              <a:alpha val="92000"/>
            </a:srgbClr>
          </a:solidFill>
          <a:ln w="9525">
            <a:solidFill>
              <a:srgbClr val="102033"/>
            </a:solidFill>
          </a:ln>
          <a:effectLst>
            <a:outerShdw blurRad="476250" dist="171450" dir="5400000" algn="bl" rotWithShape="0">
              <a:srgbClr val="1E40AF">
                <a:alpha val="8000"/>
              </a:srgbClr>
            </a:outerShdw>
          </a:effectLst>
        </p:spPr>
        <p:txBody>
          <a:bodyPr wrap="none" lIns="0" tIns="0" rIns="0" bIns="0" rtlCol="0" anchor="ctr">
            <a:normAutofit/>
          </a:bodyPr>
          <a:lstStyle/>
          <a:p>
            <a:pPr marL="0" indent="0">
              <a:buNone/>
            </a:pPr>
            <a:endParaRPr lang="en-US" dirty="0"/>
          </a:p>
        </p:txBody>
      </p:sp>
      <p:sp>
        <p:nvSpPr>
          <p:cNvPr id="8" name="Text 5"/>
          <p:cNvSpPr/>
          <p:nvPr/>
        </p:nvSpPr>
        <p:spPr>
          <a:xfrm>
            <a:off x="4709964" y="784473"/>
            <a:ext cx="1314450" cy="1162050"/>
          </a:xfrm>
          <a:prstGeom prst="roundRect">
            <a:avLst>
              <a:gd name="adj" fmla="val 125902"/>
            </a:avLst>
          </a:prstGeom>
          <a:solidFill>
            <a:srgbClr val="EEF6FF"/>
          </a:solidFill>
          <a:ln w="9525">
            <a:solidFill>
              <a:srgbClr val="D9E8FB"/>
            </a:solidFill>
          </a:ln>
        </p:spPr>
        <p:txBody>
          <a:bodyPr wrap="none" lIns="0" tIns="0" rIns="0" bIns="0" rtlCol="0" anchor="ctr">
            <a:normAutofit/>
          </a:bodyPr>
          <a:lstStyle/>
          <a:p>
            <a:pPr marL="0" indent="0">
              <a:buNone/>
            </a:pPr>
            <a:endParaRPr lang="en-US" dirty="0"/>
          </a:p>
        </p:txBody>
      </p:sp>
      <p:pic>
        <p:nvPicPr>
          <p:cNvPr id="9" name="Image 1" descr="preencoded.png"/>
          <p:cNvPicPr>
            <a:picLocks noChangeAspect="1"/>
          </p:cNvPicPr>
          <p:nvPr/>
        </p:nvPicPr>
        <p:blipFill>
          <a:blip r:embed="rId4"/>
          <a:stretch>
            <a:fillRect/>
          </a:stretch>
        </p:blipFill>
        <p:spPr>
          <a:xfrm>
            <a:off x="6414939" y="1289298"/>
            <a:ext cx="147638" cy="57150"/>
          </a:xfrm>
          <a:prstGeom prst="rect">
            <a:avLst/>
          </a:prstGeom>
        </p:spPr>
      </p:pic>
      <p:sp>
        <p:nvSpPr>
          <p:cNvPr id="10" name="Text 6"/>
          <p:cNvSpPr/>
          <p:nvPr/>
        </p:nvSpPr>
        <p:spPr>
          <a:xfrm>
            <a:off x="6689170" y="-120402"/>
            <a:ext cx="2047875" cy="2571750"/>
          </a:xfrm>
          <a:prstGeom prst="roundRect">
            <a:avLst>
              <a:gd name="adj" fmla="val 107163"/>
            </a:avLst>
          </a:prstGeom>
          <a:solidFill>
            <a:srgbClr val="FFFFFF">
              <a:alpha val="92000"/>
            </a:srgbClr>
          </a:solidFill>
          <a:ln w="9525">
            <a:solidFill>
              <a:srgbClr val="102033"/>
            </a:solidFill>
          </a:ln>
          <a:effectLst>
            <a:outerShdw blurRad="476250" dist="171450" dir="5400000" algn="bl" rotWithShape="0">
              <a:srgbClr val="1E40AF">
                <a:alpha val="8000"/>
              </a:srgbClr>
            </a:outerShdw>
          </a:effectLst>
        </p:spPr>
        <p:txBody>
          <a:bodyPr wrap="none" lIns="0" tIns="0" rIns="0" bIns="0" rtlCol="0" anchor="ctr">
            <a:normAutofit/>
          </a:bodyPr>
          <a:lstStyle/>
          <a:p>
            <a:pPr marL="0" indent="0">
              <a:buNone/>
            </a:pPr>
            <a:endParaRPr lang="en-US" dirty="0"/>
          </a:p>
        </p:txBody>
      </p:sp>
      <p:sp>
        <p:nvSpPr>
          <p:cNvPr id="11" name="Text 7"/>
          <p:cNvSpPr/>
          <p:nvPr/>
        </p:nvSpPr>
        <p:spPr>
          <a:xfrm>
            <a:off x="6953101" y="584448"/>
            <a:ext cx="1571625" cy="1162050"/>
          </a:xfrm>
          <a:prstGeom prst="roundRect">
            <a:avLst>
              <a:gd name="adj" fmla="val 125902"/>
            </a:avLst>
          </a:prstGeom>
          <a:solidFill>
            <a:srgbClr val="EEF6FF"/>
          </a:solidFill>
          <a:ln w="9525">
            <a:solidFill>
              <a:srgbClr val="D9E8FB"/>
            </a:solidFill>
          </a:ln>
        </p:spPr>
        <p:txBody>
          <a:bodyPr wrap="none" lIns="0" tIns="0" rIns="0" bIns="0" rtlCol="0" anchor="ctr">
            <a:normAutofit/>
          </a:bodyPr>
          <a:lstStyle/>
          <a:p>
            <a:pPr marL="0" indent="0">
              <a:buNone/>
            </a:pPr>
            <a:endParaRPr lang="en-US" dirty="0"/>
          </a:p>
        </p:txBody>
      </p:sp>
      <p:sp>
        <p:nvSpPr>
          <p:cNvPr id="12" name="Text 8"/>
          <p:cNvSpPr/>
          <p:nvPr/>
        </p:nvSpPr>
        <p:spPr>
          <a:xfrm>
            <a:off x="7036309" y="1734956"/>
            <a:ext cx="1571625" cy="872430"/>
          </a:xfrm>
          <a:prstGeom prst="roundRect">
            <a:avLst>
              <a:gd name="adj" fmla="val 10470589"/>
            </a:avLst>
          </a:prstGeom>
          <a:solidFill>
            <a:srgbClr val="FFF1F2"/>
          </a:solidFill>
          <a:ln w="9525">
            <a:solidFill>
              <a:srgbClr val="FECDD3"/>
            </a:solidFill>
          </a:ln>
        </p:spPr>
        <p:txBody>
          <a:bodyPr wrap="square" lIns="0" tIns="0" rIns="0" bIns="0" rtlCol="0" anchor="ctr">
            <a:normAutofit fontScale="77500" lnSpcReduction="20000"/>
          </a:bodyPr>
          <a:lstStyle/>
          <a:p>
            <a:endParaRPr lang="en-US" b="1" dirty="0"/>
          </a:p>
          <a:p>
            <a:r>
              <a:rPr lang="en-US" b="1" dirty="0"/>
              <a:t>Not used directly by the customer</a:t>
            </a:r>
            <a:endParaRPr lang="en-US" dirty="0"/>
          </a:p>
        </p:txBody>
      </p:sp>
      <p:sp>
        <p:nvSpPr>
          <p:cNvPr id="13" name="Text 9"/>
          <p:cNvSpPr/>
          <p:nvPr/>
        </p:nvSpPr>
        <p:spPr>
          <a:xfrm>
            <a:off x="7248556" y="1851273"/>
            <a:ext cx="89494" cy="209550"/>
          </a:xfrm>
          <a:prstGeom prst="roundRect">
            <a:avLst>
              <a:gd name="adj" fmla="val 81729051"/>
            </a:avLst>
          </a:prstGeom>
          <a:solidFill>
            <a:srgbClr val="E11D48"/>
          </a:solidFill>
          <a:ln/>
        </p:spPr>
        <p:txBody>
          <a:bodyPr wrap="square" lIns="0" tIns="0" rIns="0" bIns="0" rtlCol="0" anchor="ctr">
            <a:normAutofit/>
          </a:bodyPr>
          <a:lstStyle/>
          <a:p>
            <a:pPr marL="0" indent="0" algn="l">
              <a:buNone/>
            </a:pPr>
            <a:endParaRPr lang="en-US" sz="1050" dirty="0"/>
          </a:p>
        </p:txBody>
      </p:sp>
      <p:sp>
        <p:nvSpPr>
          <p:cNvPr id="14" name="Text 10"/>
          <p:cNvSpPr/>
          <p:nvPr/>
        </p:nvSpPr>
        <p:spPr>
          <a:xfrm>
            <a:off x="381000" y="2832348"/>
            <a:ext cx="5604570" cy="2000002"/>
          </a:xfrm>
          <a:prstGeom prst="roundRect">
            <a:avLst>
              <a:gd name="adj" fmla="val 54759"/>
            </a:avLst>
          </a:prstGeom>
          <a:solidFill>
            <a:srgbClr val="FFFFFF">
              <a:alpha val="92000"/>
            </a:srgbClr>
          </a:solidFill>
          <a:ln w="9525">
            <a:solidFill>
              <a:srgbClr val="102033"/>
            </a:solidFill>
          </a:ln>
          <a:effectLst>
            <a:outerShdw blurRad="476250" dist="171450" dir="5400000" algn="bl" rotWithShape="0">
              <a:srgbClr val="1E40AF">
                <a:alpha val="8000"/>
              </a:srgbClr>
            </a:outerShdw>
          </a:effectLst>
        </p:spPr>
        <p:txBody>
          <a:bodyPr wrap="none" lIns="0" tIns="0" rIns="0" bIns="0" rtlCol="0" anchor="ctr">
            <a:normAutofit/>
          </a:bodyPr>
          <a:lstStyle/>
          <a:p>
            <a:pPr marL="0" indent="0">
              <a:buNone/>
            </a:pPr>
            <a:endParaRPr lang="en-US" dirty="0"/>
          </a:p>
        </p:txBody>
      </p:sp>
      <p:sp>
        <p:nvSpPr>
          <p:cNvPr id="15" name="Text 11"/>
          <p:cNvSpPr/>
          <p:nvPr/>
        </p:nvSpPr>
        <p:spPr>
          <a:xfrm>
            <a:off x="581025" y="3346698"/>
            <a:ext cx="1186755" cy="1143000"/>
          </a:xfrm>
          <a:prstGeom prst="roundRect">
            <a:avLst>
              <a:gd name="adj" fmla="val 128000"/>
            </a:avLst>
          </a:prstGeom>
          <a:solidFill>
            <a:srgbClr val="EEF6FF"/>
          </a:solidFill>
          <a:ln w="9525">
            <a:solidFill>
              <a:srgbClr val="D9E8FB"/>
            </a:solidFill>
          </a:ln>
        </p:spPr>
        <p:txBody>
          <a:bodyPr wrap="none" lIns="0" tIns="0" rIns="0" bIns="0" rtlCol="0" anchor="ctr">
            <a:normAutofit/>
          </a:bodyPr>
          <a:lstStyle/>
          <a:p>
            <a:pPr marL="0" indent="0">
              <a:buNone/>
            </a:pPr>
            <a:endParaRPr lang="en-US" dirty="0"/>
          </a:p>
        </p:txBody>
      </p:sp>
      <p:sp>
        <p:nvSpPr>
          <p:cNvPr id="16" name="Text 12"/>
          <p:cNvSpPr/>
          <p:nvPr/>
        </p:nvSpPr>
        <p:spPr>
          <a:xfrm>
            <a:off x="1920180" y="3346698"/>
            <a:ext cx="1186904" cy="1143000"/>
          </a:xfrm>
          <a:prstGeom prst="roundRect">
            <a:avLst>
              <a:gd name="adj" fmla="val 128000"/>
            </a:avLst>
          </a:prstGeom>
          <a:solidFill>
            <a:srgbClr val="EEF6FF"/>
          </a:solidFill>
          <a:ln w="9525">
            <a:solidFill>
              <a:srgbClr val="D9E8FB"/>
            </a:solidFill>
          </a:ln>
        </p:spPr>
        <p:txBody>
          <a:bodyPr wrap="none" lIns="0" tIns="0" rIns="0" bIns="0" rtlCol="0" anchor="ctr">
            <a:normAutofit/>
          </a:bodyPr>
          <a:lstStyle/>
          <a:p>
            <a:pPr marL="0" indent="0">
              <a:buNone/>
            </a:pPr>
            <a:endParaRPr lang="en-US" dirty="0"/>
          </a:p>
        </p:txBody>
      </p:sp>
      <p:sp>
        <p:nvSpPr>
          <p:cNvPr id="17" name="Text 13"/>
          <p:cNvSpPr/>
          <p:nvPr/>
        </p:nvSpPr>
        <p:spPr>
          <a:xfrm>
            <a:off x="3259485" y="3346698"/>
            <a:ext cx="1186755" cy="1143000"/>
          </a:xfrm>
          <a:prstGeom prst="roundRect">
            <a:avLst>
              <a:gd name="adj" fmla="val 128000"/>
            </a:avLst>
          </a:prstGeom>
          <a:solidFill>
            <a:srgbClr val="EEF6FF"/>
          </a:solidFill>
          <a:ln w="9525">
            <a:solidFill>
              <a:srgbClr val="D9E8FB"/>
            </a:solidFill>
          </a:ln>
        </p:spPr>
        <p:txBody>
          <a:bodyPr wrap="none" lIns="0" tIns="0" rIns="0" bIns="0" rtlCol="0" anchor="ctr">
            <a:normAutofit/>
          </a:bodyPr>
          <a:lstStyle/>
          <a:p>
            <a:pPr marL="0" indent="0">
              <a:buNone/>
            </a:pPr>
            <a:endParaRPr lang="en-US" dirty="0"/>
          </a:p>
        </p:txBody>
      </p:sp>
      <p:sp>
        <p:nvSpPr>
          <p:cNvPr id="18" name="Text 14"/>
          <p:cNvSpPr/>
          <p:nvPr/>
        </p:nvSpPr>
        <p:spPr>
          <a:xfrm>
            <a:off x="4598640" y="3346698"/>
            <a:ext cx="1186904" cy="1143000"/>
          </a:xfrm>
          <a:prstGeom prst="roundRect">
            <a:avLst>
              <a:gd name="adj" fmla="val 128000"/>
            </a:avLst>
          </a:prstGeom>
          <a:solidFill>
            <a:srgbClr val="EEF6FF"/>
          </a:solidFill>
          <a:ln w="9525">
            <a:solidFill>
              <a:srgbClr val="D9E8FB"/>
            </a:solidFill>
          </a:ln>
        </p:spPr>
        <p:txBody>
          <a:bodyPr wrap="none" lIns="0" tIns="0" rIns="0" bIns="0" rtlCol="0" anchor="ctr">
            <a:normAutofit/>
          </a:bodyPr>
          <a:lstStyle/>
          <a:p>
            <a:pPr marL="0" indent="0">
              <a:buNone/>
            </a:pPr>
            <a:endParaRPr lang="en-US" dirty="0"/>
          </a:p>
        </p:txBody>
      </p:sp>
      <p:pic>
        <p:nvPicPr>
          <p:cNvPr id="19" name="Image 2" descr="preencoded.png"/>
          <p:cNvPicPr>
            <a:picLocks noChangeAspect="1"/>
          </p:cNvPicPr>
          <p:nvPr/>
        </p:nvPicPr>
        <p:blipFill>
          <a:blip r:embed="rId5"/>
          <a:stretch>
            <a:fillRect/>
          </a:stretch>
        </p:blipFill>
        <p:spPr>
          <a:xfrm>
            <a:off x="6176070" y="2832348"/>
            <a:ext cx="2586930" cy="4007644"/>
          </a:xfrm>
          <a:prstGeom prst="rect">
            <a:avLst/>
          </a:prstGeom>
        </p:spPr>
      </p:pic>
      <p:sp>
        <p:nvSpPr>
          <p:cNvPr id="20" name="Text 15"/>
          <p:cNvSpPr/>
          <p:nvPr/>
        </p:nvSpPr>
        <p:spPr>
          <a:xfrm>
            <a:off x="381000" y="-1696343"/>
            <a:ext cx="8549640" cy="214313"/>
          </a:xfrm>
          <a:prstGeom prst="rect">
            <a:avLst/>
          </a:prstGeom>
          <a:noFill/>
          <a:ln/>
        </p:spPr>
        <p:txBody>
          <a:bodyPr wrap="square" lIns="0" tIns="0" rIns="0" bIns="0" rtlCol="0" anchor="t"/>
          <a:lstStyle/>
          <a:p>
            <a:pPr marL="0" indent="0">
              <a:lnSpc>
                <a:spcPts val="1688"/>
              </a:lnSpc>
              <a:buNone/>
            </a:pPr>
            <a:r>
              <a:rPr lang="en-US" sz="1125" b="1" dirty="0">
                <a:solidFill>
                  <a:srgbClr val="000000"/>
                </a:solidFill>
                <a:latin typeface="Manrope" pitchFamily="34" charset="0"/>
                <a:ea typeface="Manrope" pitchFamily="34" charset="-122"/>
                <a:cs typeface="Manrope" pitchFamily="34" charset="-120"/>
              </a:rPr>
              <a:t>Q next quarter deliverable context</a:t>
            </a:r>
            <a:endParaRPr lang="en-US" sz="1125" dirty="0"/>
          </a:p>
        </p:txBody>
      </p:sp>
      <p:sp>
        <p:nvSpPr>
          <p:cNvPr id="21" name="Text 16"/>
          <p:cNvSpPr/>
          <p:nvPr/>
        </p:nvSpPr>
        <p:spPr>
          <a:xfrm>
            <a:off x="381000" y="-1405830"/>
            <a:ext cx="8549640" cy="466279"/>
          </a:xfrm>
          <a:prstGeom prst="rect">
            <a:avLst/>
          </a:prstGeom>
          <a:noFill/>
          <a:ln/>
        </p:spPr>
        <p:txBody>
          <a:bodyPr wrap="square" lIns="0" tIns="0" rIns="0" bIns="0" rtlCol="0" anchor="t"/>
          <a:lstStyle/>
          <a:p>
            <a:pPr marL="0" indent="0">
              <a:lnSpc>
                <a:spcPts val="3672"/>
              </a:lnSpc>
              <a:buNone/>
            </a:pPr>
            <a:r>
              <a:rPr lang="en-US" sz="3600" b="1" dirty="0">
                <a:solidFill>
                  <a:srgbClr val="000000"/>
                </a:solidFill>
                <a:latin typeface="Manrope" pitchFamily="34" charset="0"/>
                <a:ea typeface="Manrope" pitchFamily="34" charset="-122"/>
                <a:cs typeface="Manrope" pitchFamily="34" charset="-120"/>
              </a:rPr>
              <a:t>How an MCP Server Is Used</a:t>
            </a:r>
            <a:endParaRPr lang="en-US" sz="3600" dirty="0"/>
          </a:p>
        </p:txBody>
      </p:sp>
      <p:sp>
        <p:nvSpPr>
          <p:cNvPr id="22" name="Text 17"/>
          <p:cNvSpPr/>
          <p:nvPr/>
        </p:nvSpPr>
        <p:spPr>
          <a:xfrm>
            <a:off x="381000" y="-825252"/>
            <a:ext cx="8382000" cy="628650"/>
          </a:xfrm>
          <a:prstGeom prst="rect">
            <a:avLst/>
          </a:prstGeom>
          <a:noFill/>
          <a:ln/>
        </p:spPr>
        <p:txBody>
          <a:bodyPr wrap="square" lIns="0" tIns="0" rIns="0" bIns="0" rtlCol="0" anchor="t"/>
          <a:lstStyle/>
          <a:p>
            <a:pPr marL="0" indent="0">
              <a:lnSpc>
                <a:spcPts val="2475"/>
              </a:lnSpc>
              <a:buNone/>
            </a:pPr>
            <a:r>
              <a:rPr lang="en-US" sz="1650" dirty="0">
                <a:solidFill>
                  <a:srgbClr val="000000"/>
                </a:solidFill>
                <a:latin typeface="Manrope" pitchFamily="34" charset="0"/>
                <a:ea typeface="Manrope" pitchFamily="34" charset="-122"/>
                <a:cs typeface="Manrope" pitchFamily="34" charset="-120"/>
              </a:rPr>
              <a:t>An MCP server is not a customer-facing product by itself. It is the standard connection layer that lets an app or AI assistant safely use enterprise tools, data, and actions.</a:t>
            </a:r>
            <a:endParaRPr lang="en-US" sz="1650" dirty="0"/>
          </a:p>
        </p:txBody>
      </p:sp>
      <p:sp>
        <p:nvSpPr>
          <p:cNvPr id="23" name="Text 18"/>
          <p:cNvSpPr/>
          <p:nvPr/>
        </p:nvSpPr>
        <p:spPr>
          <a:xfrm>
            <a:off x="619125" y="270123"/>
            <a:ext cx="3225546" cy="200025"/>
          </a:xfrm>
          <a:prstGeom prst="rect">
            <a:avLst/>
          </a:prstGeom>
          <a:noFill/>
          <a:ln/>
        </p:spPr>
        <p:txBody>
          <a:bodyPr wrap="square" lIns="0" tIns="0" rIns="0" bIns="0" rtlCol="0" anchor="t"/>
          <a:lstStyle/>
          <a:p>
            <a:pPr marL="0" indent="0">
              <a:lnSpc>
                <a:spcPts val="1575"/>
              </a:lnSpc>
              <a:buNone/>
            </a:pPr>
            <a:r>
              <a:rPr lang="en-US" sz="1050" b="1" dirty="0">
                <a:solidFill>
                  <a:srgbClr val="000000"/>
                </a:solidFill>
                <a:latin typeface="Manrope" pitchFamily="34" charset="0"/>
                <a:ea typeface="Manrope" pitchFamily="34" charset="-122"/>
                <a:cs typeface="Manrope" pitchFamily="34" charset="-120"/>
              </a:rPr>
              <a:t>1. Users</a:t>
            </a:r>
            <a:endParaRPr lang="en-US" sz="1050" dirty="0"/>
          </a:p>
        </p:txBody>
      </p:sp>
      <p:sp>
        <p:nvSpPr>
          <p:cNvPr id="24" name="Text 19"/>
          <p:cNvSpPr/>
          <p:nvPr/>
        </p:nvSpPr>
        <p:spPr>
          <a:xfrm>
            <a:off x="773621" y="708273"/>
            <a:ext cx="757809" cy="342900"/>
          </a:xfrm>
          <a:prstGeom prst="rect">
            <a:avLst/>
          </a:prstGeom>
          <a:noFill/>
          <a:ln/>
        </p:spPr>
        <p:txBody>
          <a:bodyPr wrap="square" lIns="0" tIns="0" rIns="0" bIns="0" rtlCol="0" anchor="t"/>
          <a:lstStyle/>
          <a:p>
            <a:pPr marL="0" indent="0" algn="ctr">
              <a:lnSpc>
                <a:spcPts val="2700"/>
              </a:lnSpc>
              <a:buNone/>
            </a:pPr>
            <a:r>
              <a:rPr lang="en-US" sz="2250" dirty="0">
                <a:solidFill>
                  <a:srgbClr val="102033"/>
                </a:solidFill>
                <a:latin typeface="Manrope" pitchFamily="34" charset="0"/>
                <a:ea typeface="Manrope" pitchFamily="34" charset="-122"/>
                <a:cs typeface="Manrope" pitchFamily="34" charset="-120"/>
              </a:rPr>
              <a:t>👤</a:t>
            </a:r>
            <a:endParaRPr lang="en-US" sz="2250" dirty="0"/>
          </a:p>
        </p:txBody>
      </p:sp>
      <p:sp>
        <p:nvSpPr>
          <p:cNvPr id="25" name="Text 20"/>
          <p:cNvSpPr/>
          <p:nvPr/>
        </p:nvSpPr>
        <p:spPr>
          <a:xfrm>
            <a:off x="773621" y="1089273"/>
            <a:ext cx="757809" cy="228600"/>
          </a:xfrm>
          <a:prstGeom prst="rect">
            <a:avLst/>
          </a:prstGeom>
          <a:noFill/>
          <a:ln/>
        </p:spPr>
        <p:txBody>
          <a:bodyPr wrap="square" lIns="0" tIns="0" rIns="0" bIns="0" rtlCol="0" anchor="t"/>
          <a:lstStyle/>
          <a:p>
            <a:pPr marL="0" indent="0" algn="ctr">
              <a:lnSpc>
                <a:spcPts val="1800"/>
              </a:lnSpc>
              <a:buNone/>
            </a:pPr>
            <a:r>
              <a:rPr lang="en-US" sz="1200" b="1" dirty="0">
                <a:solidFill>
                  <a:srgbClr val="000000"/>
                </a:solidFill>
                <a:latin typeface="Manrope" pitchFamily="34" charset="0"/>
                <a:ea typeface="Manrope" pitchFamily="34" charset="-122"/>
                <a:cs typeface="Manrope" pitchFamily="34" charset="-120"/>
              </a:rPr>
              <a:t>Customer</a:t>
            </a:r>
            <a:endParaRPr lang="en-US" sz="1200" dirty="0"/>
          </a:p>
        </p:txBody>
      </p:sp>
      <p:sp>
        <p:nvSpPr>
          <p:cNvPr id="26" name="Text 21"/>
          <p:cNvSpPr/>
          <p:nvPr/>
        </p:nvSpPr>
        <p:spPr>
          <a:xfrm>
            <a:off x="1955578" y="708273"/>
            <a:ext cx="670369" cy="342900"/>
          </a:xfrm>
          <a:prstGeom prst="rect">
            <a:avLst/>
          </a:prstGeom>
          <a:noFill/>
          <a:ln/>
        </p:spPr>
        <p:txBody>
          <a:bodyPr wrap="square" lIns="0" tIns="0" rIns="0" bIns="0" rtlCol="0" anchor="t"/>
          <a:lstStyle/>
          <a:p>
            <a:pPr marL="0" indent="0" algn="ctr">
              <a:lnSpc>
                <a:spcPts val="2700"/>
              </a:lnSpc>
              <a:buNone/>
            </a:pPr>
            <a:r>
              <a:rPr lang="en-US" sz="2250" dirty="0">
                <a:solidFill>
                  <a:srgbClr val="102033"/>
                </a:solidFill>
                <a:latin typeface="Manrope" pitchFamily="34" charset="0"/>
                <a:ea typeface="Manrope" pitchFamily="34" charset="-122"/>
                <a:cs typeface="Manrope" pitchFamily="34" charset="-120"/>
              </a:rPr>
              <a:t>🛠️</a:t>
            </a:r>
            <a:endParaRPr lang="en-US" sz="2250" dirty="0"/>
          </a:p>
        </p:txBody>
      </p:sp>
      <p:sp>
        <p:nvSpPr>
          <p:cNvPr id="27" name="Text 22"/>
          <p:cNvSpPr/>
          <p:nvPr/>
        </p:nvSpPr>
        <p:spPr>
          <a:xfrm>
            <a:off x="1955578" y="1089273"/>
            <a:ext cx="670369" cy="228600"/>
          </a:xfrm>
          <a:prstGeom prst="rect">
            <a:avLst/>
          </a:prstGeom>
          <a:noFill/>
          <a:ln/>
        </p:spPr>
        <p:txBody>
          <a:bodyPr wrap="square" lIns="0" tIns="0" rIns="0" bIns="0" rtlCol="0" anchor="t"/>
          <a:lstStyle/>
          <a:p>
            <a:pPr marL="0" indent="0" algn="ctr">
              <a:lnSpc>
                <a:spcPts val="1800"/>
              </a:lnSpc>
              <a:buNone/>
            </a:pPr>
            <a:r>
              <a:rPr lang="en-US" sz="1200" b="1" dirty="0">
                <a:solidFill>
                  <a:srgbClr val="000000"/>
                </a:solidFill>
                <a:latin typeface="Manrope" pitchFamily="34" charset="0"/>
                <a:ea typeface="Manrope" pitchFamily="34" charset="-122"/>
                <a:cs typeface="Manrope" pitchFamily="34" charset="-120"/>
              </a:rPr>
              <a:t>Engineer</a:t>
            </a:r>
            <a:endParaRPr lang="en-US" sz="1200" dirty="0"/>
          </a:p>
        </p:txBody>
      </p:sp>
      <p:sp>
        <p:nvSpPr>
          <p:cNvPr id="28" name="Text 23"/>
          <p:cNvSpPr/>
          <p:nvPr/>
        </p:nvSpPr>
        <p:spPr>
          <a:xfrm>
            <a:off x="3051905" y="708273"/>
            <a:ext cx="573215" cy="342900"/>
          </a:xfrm>
          <a:prstGeom prst="rect">
            <a:avLst/>
          </a:prstGeom>
          <a:noFill/>
          <a:ln/>
        </p:spPr>
        <p:txBody>
          <a:bodyPr wrap="square" lIns="0" tIns="0" rIns="0" bIns="0" rtlCol="0" anchor="t"/>
          <a:lstStyle/>
          <a:p>
            <a:pPr marL="0" indent="0" algn="ctr">
              <a:lnSpc>
                <a:spcPts val="2700"/>
              </a:lnSpc>
              <a:buNone/>
            </a:pPr>
            <a:r>
              <a:rPr lang="en-US" sz="2250" dirty="0">
                <a:solidFill>
                  <a:srgbClr val="102033"/>
                </a:solidFill>
                <a:latin typeface="Manrope" pitchFamily="34" charset="0"/>
                <a:ea typeface="Manrope" pitchFamily="34" charset="-122"/>
                <a:cs typeface="Manrope" pitchFamily="34" charset="-120"/>
              </a:rPr>
              <a:t>📊</a:t>
            </a:r>
            <a:endParaRPr lang="en-US" sz="2250" dirty="0"/>
          </a:p>
        </p:txBody>
      </p:sp>
      <p:sp>
        <p:nvSpPr>
          <p:cNvPr id="29" name="Text 24"/>
          <p:cNvSpPr/>
          <p:nvPr/>
        </p:nvSpPr>
        <p:spPr>
          <a:xfrm>
            <a:off x="3051905" y="1089273"/>
            <a:ext cx="573215" cy="228600"/>
          </a:xfrm>
          <a:prstGeom prst="rect">
            <a:avLst/>
          </a:prstGeom>
          <a:noFill/>
          <a:ln/>
        </p:spPr>
        <p:txBody>
          <a:bodyPr wrap="square" lIns="0" tIns="0" rIns="0" bIns="0" rtlCol="0" anchor="t"/>
          <a:lstStyle/>
          <a:p>
            <a:pPr marL="0" indent="0" algn="ctr">
              <a:lnSpc>
                <a:spcPts val="1800"/>
              </a:lnSpc>
              <a:buNone/>
            </a:pPr>
            <a:r>
              <a:rPr lang="en-US" sz="1200" b="1" dirty="0">
                <a:solidFill>
                  <a:srgbClr val="000000"/>
                </a:solidFill>
                <a:latin typeface="Manrope" pitchFamily="34" charset="0"/>
                <a:ea typeface="Manrope" pitchFamily="34" charset="-122"/>
                <a:cs typeface="Manrope" pitchFamily="34" charset="-120"/>
              </a:rPr>
              <a:t>Analyst</a:t>
            </a:r>
            <a:endParaRPr lang="en-US" sz="1200" dirty="0"/>
          </a:p>
        </p:txBody>
      </p:sp>
      <p:sp>
        <p:nvSpPr>
          <p:cNvPr id="30" name="Text 25"/>
          <p:cNvSpPr/>
          <p:nvPr/>
        </p:nvSpPr>
        <p:spPr>
          <a:xfrm>
            <a:off x="619125" y="1594098"/>
            <a:ext cx="3162300" cy="471488"/>
          </a:xfrm>
          <a:prstGeom prst="rect">
            <a:avLst/>
          </a:prstGeom>
          <a:noFill/>
          <a:ln/>
        </p:spPr>
        <p:txBody>
          <a:bodyPr wrap="square" lIns="0" tIns="0" rIns="0" bIns="0" rtlCol="0" anchor="t"/>
          <a:lstStyle/>
          <a:p>
            <a:pPr marL="0" indent="0">
              <a:lnSpc>
                <a:spcPts val="1856"/>
              </a:lnSpc>
              <a:buNone/>
            </a:pPr>
            <a:r>
              <a:rPr lang="en-US" sz="1350" dirty="0">
                <a:solidFill>
                  <a:srgbClr val="000000"/>
                </a:solidFill>
                <a:latin typeface="Manrope" pitchFamily="34" charset="0"/>
                <a:ea typeface="Manrope" pitchFamily="34" charset="-122"/>
                <a:cs typeface="Manrope" pitchFamily="34" charset="-120"/>
              </a:rPr>
              <a:t>They ask for outcomes through a familiar app or assistant.</a:t>
            </a:r>
            <a:endParaRPr lang="en-US" sz="1350" dirty="0"/>
          </a:p>
        </p:txBody>
      </p:sp>
      <p:sp>
        <p:nvSpPr>
          <p:cNvPr id="31" name="Text 26"/>
          <p:cNvSpPr/>
          <p:nvPr/>
        </p:nvSpPr>
        <p:spPr>
          <a:xfrm>
            <a:off x="4709964" y="270123"/>
            <a:ext cx="1314450" cy="400050"/>
          </a:xfrm>
          <a:prstGeom prst="rect">
            <a:avLst/>
          </a:prstGeom>
          <a:noFill/>
          <a:ln/>
        </p:spPr>
        <p:txBody>
          <a:bodyPr wrap="square" lIns="0" tIns="0" rIns="0" bIns="0" rtlCol="0" anchor="t"/>
          <a:lstStyle/>
          <a:p>
            <a:pPr marL="0" indent="0">
              <a:lnSpc>
                <a:spcPts val="1575"/>
              </a:lnSpc>
              <a:buNone/>
            </a:pPr>
            <a:r>
              <a:rPr lang="en-US" sz="1050" b="1" dirty="0">
                <a:solidFill>
                  <a:srgbClr val="000000"/>
                </a:solidFill>
                <a:latin typeface="Manrope" pitchFamily="34" charset="0"/>
                <a:ea typeface="Manrope" pitchFamily="34" charset="-122"/>
                <a:cs typeface="Manrope" pitchFamily="34" charset="-120"/>
              </a:rPr>
              <a:t>2. App / AI Assistant</a:t>
            </a:r>
            <a:endParaRPr lang="en-US" sz="1050" dirty="0"/>
          </a:p>
        </p:txBody>
      </p:sp>
      <p:sp>
        <p:nvSpPr>
          <p:cNvPr id="32" name="Text 27"/>
          <p:cNvSpPr/>
          <p:nvPr/>
        </p:nvSpPr>
        <p:spPr>
          <a:xfrm>
            <a:off x="5215932" y="-63252"/>
            <a:ext cx="932688" cy="381000"/>
          </a:xfrm>
          <a:prstGeom prst="rect">
            <a:avLst/>
          </a:prstGeom>
          <a:noFill/>
          <a:ln/>
        </p:spPr>
        <p:txBody>
          <a:bodyPr wrap="square" lIns="0" tIns="0" rIns="0" bIns="0" rtlCol="0" anchor="t"/>
          <a:lstStyle/>
          <a:p>
            <a:pPr marL="0" indent="0">
              <a:lnSpc>
                <a:spcPts val="3000"/>
              </a:lnSpc>
              <a:buNone/>
            </a:pPr>
            <a:r>
              <a:rPr lang="en-US" sz="2700" dirty="0">
                <a:solidFill>
                  <a:srgbClr val="102033"/>
                </a:solidFill>
                <a:latin typeface="Manrope" pitchFamily="34" charset="0"/>
                <a:ea typeface="Manrope" pitchFamily="34" charset="-122"/>
                <a:cs typeface="Manrope" pitchFamily="34" charset="-120"/>
              </a:rPr>
              <a:t>💬</a:t>
            </a:r>
            <a:endParaRPr lang="en-US" sz="2700" dirty="0"/>
          </a:p>
        </p:txBody>
      </p:sp>
      <p:sp>
        <p:nvSpPr>
          <p:cNvPr id="33" name="Text 28"/>
          <p:cNvSpPr/>
          <p:nvPr/>
        </p:nvSpPr>
        <p:spPr>
          <a:xfrm>
            <a:off x="4909989" y="736848"/>
            <a:ext cx="1043136" cy="628650"/>
          </a:xfrm>
          <a:prstGeom prst="rect">
            <a:avLst/>
          </a:prstGeom>
          <a:noFill/>
          <a:ln/>
        </p:spPr>
        <p:txBody>
          <a:bodyPr wrap="square" lIns="0" tIns="0" rIns="0" bIns="0" rtlCol="0" anchor="t"/>
          <a:lstStyle/>
          <a:p>
            <a:pPr marL="0" indent="0" algn="ctr">
              <a:buNone/>
            </a:pPr>
            <a:r>
              <a:rPr lang="en-US" sz="1200" b="1" dirty="0">
                <a:solidFill>
                  <a:srgbClr val="000000"/>
                </a:solidFill>
                <a:latin typeface="Manrope" pitchFamily="34" charset="0"/>
                <a:ea typeface="Manrope" pitchFamily="34" charset="-122"/>
                <a:cs typeface="Manrope" pitchFamily="34" charset="-120"/>
              </a:rPr>
              <a:t>What users actually interact with</a:t>
            </a:r>
            <a:endParaRPr lang="en-US" sz="1200" dirty="0"/>
          </a:p>
        </p:txBody>
      </p:sp>
      <p:sp>
        <p:nvSpPr>
          <p:cNvPr id="34" name="Text 29"/>
          <p:cNvSpPr/>
          <p:nvPr/>
        </p:nvSpPr>
        <p:spPr>
          <a:xfrm>
            <a:off x="4809977" y="1441698"/>
            <a:ext cx="1314450" cy="905123"/>
          </a:xfrm>
          <a:prstGeom prst="rect">
            <a:avLst/>
          </a:prstGeom>
          <a:noFill/>
          <a:ln/>
        </p:spPr>
        <p:txBody>
          <a:bodyPr wrap="square" lIns="0" tIns="0" rIns="0" bIns="0" rtlCol="0" anchor="t"/>
          <a:lstStyle/>
          <a:p>
            <a:pPr marL="0" indent="0">
              <a:buNone/>
            </a:pPr>
            <a:r>
              <a:rPr lang="en-US" sz="1000" dirty="0">
                <a:solidFill>
                  <a:srgbClr val="000000"/>
                </a:solidFill>
                <a:latin typeface="Manrope" pitchFamily="34" charset="0"/>
                <a:ea typeface="Manrope" pitchFamily="34" charset="-122"/>
                <a:cs typeface="Manrope" pitchFamily="34" charset="-120"/>
              </a:rPr>
              <a:t>This is the customer-facing experience that understands the request and handles the workflow.</a:t>
            </a:r>
            <a:endParaRPr lang="en-US" sz="1000" dirty="0"/>
          </a:p>
        </p:txBody>
      </p:sp>
      <p:sp>
        <p:nvSpPr>
          <p:cNvPr id="35" name="Text 30"/>
          <p:cNvSpPr/>
          <p:nvPr/>
        </p:nvSpPr>
        <p:spPr>
          <a:xfrm>
            <a:off x="6953101" y="270123"/>
            <a:ext cx="1603058" cy="200025"/>
          </a:xfrm>
          <a:prstGeom prst="rect">
            <a:avLst/>
          </a:prstGeom>
          <a:noFill/>
          <a:ln/>
        </p:spPr>
        <p:txBody>
          <a:bodyPr wrap="square" lIns="0" tIns="0" rIns="0" bIns="0" rtlCol="0" anchor="t"/>
          <a:lstStyle/>
          <a:p>
            <a:pPr marL="0" indent="0">
              <a:lnSpc>
                <a:spcPts val="1575"/>
              </a:lnSpc>
              <a:buNone/>
            </a:pPr>
            <a:r>
              <a:rPr lang="en-US" sz="1050" b="1" dirty="0">
                <a:solidFill>
                  <a:srgbClr val="000000"/>
                </a:solidFill>
                <a:latin typeface="Manrope" pitchFamily="34" charset="0"/>
                <a:ea typeface="Manrope" pitchFamily="34" charset="-122"/>
                <a:cs typeface="Manrope" pitchFamily="34" charset="-120"/>
              </a:rPr>
              <a:t>3. MCP Server</a:t>
            </a:r>
            <a:endParaRPr lang="en-US" sz="1050" dirty="0"/>
          </a:p>
        </p:txBody>
      </p:sp>
      <p:sp>
        <p:nvSpPr>
          <p:cNvPr id="36" name="Text 31"/>
          <p:cNvSpPr/>
          <p:nvPr/>
        </p:nvSpPr>
        <p:spPr>
          <a:xfrm>
            <a:off x="7599277" y="133598"/>
            <a:ext cx="1195007" cy="381000"/>
          </a:xfrm>
          <a:prstGeom prst="rect">
            <a:avLst/>
          </a:prstGeom>
          <a:noFill/>
          <a:ln/>
        </p:spPr>
        <p:txBody>
          <a:bodyPr wrap="square" lIns="0" tIns="0" rIns="0" bIns="0" rtlCol="0" anchor="t"/>
          <a:lstStyle/>
          <a:p>
            <a:pPr marL="0" indent="0">
              <a:lnSpc>
                <a:spcPts val="3000"/>
              </a:lnSpc>
              <a:buNone/>
            </a:pPr>
            <a:r>
              <a:rPr lang="en-US" sz="2700" dirty="0">
                <a:solidFill>
                  <a:srgbClr val="102033"/>
                </a:solidFill>
                <a:latin typeface="Manrope" pitchFamily="34" charset="0"/>
                <a:ea typeface="Manrope" pitchFamily="34" charset="-122"/>
                <a:cs typeface="Manrope" pitchFamily="34" charset="-120"/>
              </a:rPr>
              <a:t>🔌</a:t>
            </a:r>
            <a:endParaRPr lang="en-US" sz="2700" dirty="0"/>
          </a:p>
        </p:txBody>
      </p:sp>
      <p:sp>
        <p:nvSpPr>
          <p:cNvPr id="37" name="Text 32"/>
          <p:cNvSpPr/>
          <p:nvPr/>
        </p:nvSpPr>
        <p:spPr>
          <a:xfrm>
            <a:off x="7153126" y="708273"/>
            <a:ext cx="1171575" cy="1371600"/>
          </a:xfrm>
          <a:prstGeom prst="rect">
            <a:avLst/>
          </a:prstGeom>
          <a:noFill/>
          <a:ln/>
        </p:spPr>
        <p:txBody>
          <a:bodyPr wrap="square" lIns="0" tIns="0" rIns="0" bIns="0" rtlCol="0" anchor="t"/>
          <a:lstStyle/>
          <a:p>
            <a:pPr marL="0" indent="0">
              <a:buNone/>
            </a:pPr>
            <a:r>
              <a:rPr lang="en-US" sz="1800" b="1" dirty="0">
                <a:solidFill>
                  <a:srgbClr val="000000"/>
                </a:solidFill>
                <a:latin typeface="Manrope" pitchFamily="34" charset="0"/>
                <a:ea typeface="Manrope" pitchFamily="34" charset="-122"/>
                <a:cs typeface="Manrope" pitchFamily="34" charset="-120"/>
              </a:rPr>
              <a:t>Standard connector for tools and data</a:t>
            </a:r>
            <a:endParaRPr lang="en-US" sz="1800" dirty="0"/>
          </a:p>
        </p:txBody>
      </p:sp>
      <p:sp>
        <p:nvSpPr>
          <p:cNvPr id="38" name="Text 33"/>
          <p:cNvSpPr/>
          <p:nvPr/>
        </p:nvSpPr>
        <p:spPr>
          <a:xfrm>
            <a:off x="581025" y="3032373"/>
            <a:ext cx="5308610" cy="200025"/>
          </a:xfrm>
          <a:prstGeom prst="rect">
            <a:avLst/>
          </a:prstGeom>
          <a:noFill/>
          <a:ln/>
        </p:spPr>
        <p:txBody>
          <a:bodyPr wrap="square" lIns="0" tIns="0" rIns="0" bIns="0" rtlCol="0" anchor="t"/>
          <a:lstStyle/>
          <a:p>
            <a:pPr marL="0" indent="0">
              <a:lnSpc>
                <a:spcPts val="1575"/>
              </a:lnSpc>
              <a:buNone/>
            </a:pPr>
            <a:r>
              <a:rPr lang="en-US" sz="1050" b="1" dirty="0">
                <a:solidFill>
                  <a:srgbClr val="000000"/>
                </a:solidFill>
                <a:latin typeface="Manrope" pitchFamily="34" charset="0"/>
                <a:ea typeface="Manrope" pitchFamily="34" charset="-122"/>
                <a:cs typeface="Manrope" pitchFamily="34" charset="-120"/>
              </a:rPr>
              <a:t>4. Enterprise systems behind the scenes</a:t>
            </a:r>
            <a:endParaRPr lang="en-US" sz="1050" dirty="0"/>
          </a:p>
        </p:txBody>
      </p:sp>
      <p:sp>
        <p:nvSpPr>
          <p:cNvPr id="39" name="Text 34"/>
          <p:cNvSpPr/>
          <p:nvPr/>
        </p:nvSpPr>
        <p:spPr>
          <a:xfrm>
            <a:off x="1028670" y="3422898"/>
            <a:ext cx="291465" cy="342900"/>
          </a:xfrm>
          <a:prstGeom prst="rect">
            <a:avLst/>
          </a:prstGeom>
          <a:noFill/>
          <a:ln/>
        </p:spPr>
        <p:txBody>
          <a:bodyPr wrap="square" lIns="0" tIns="0" rIns="0" bIns="0" rtlCol="0" anchor="t"/>
          <a:lstStyle/>
          <a:p>
            <a:pPr marL="0" indent="0" algn="ctr">
              <a:lnSpc>
                <a:spcPts val="2700"/>
              </a:lnSpc>
              <a:buNone/>
            </a:pPr>
            <a:r>
              <a:rPr lang="en-US" sz="2250" dirty="0">
                <a:solidFill>
                  <a:srgbClr val="102033"/>
                </a:solidFill>
                <a:latin typeface="Manrope" pitchFamily="34" charset="0"/>
                <a:ea typeface="Manrope" pitchFamily="34" charset="-122"/>
                <a:cs typeface="Manrope" pitchFamily="34" charset="-120"/>
              </a:rPr>
              <a:t>📚</a:t>
            </a:r>
            <a:endParaRPr lang="en-US" sz="2250" dirty="0"/>
          </a:p>
        </p:txBody>
      </p:sp>
      <p:sp>
        <p:nvSpPr>
          <p:cNvPr id="40" name="Text 35"/>
          <p:cNvSpPr/>
          <p:nvPr/>
        </p:nvSpPr>
        <p:spPr>
          <a:xfrm>
            <a:off x="660053" y="3841998"/>
            <a:ext cx="1028700" cy="571500"/>
          </a:xfrm>
          <a:prstGeom prst="rect">
            <a:avLst/>
          </a:prstGeom>
          <a:noFill/>
          <a:ln/>
        </p:spPr>
        <p:txBody>
          <a:bodyPr wrap="square" lIns="0" tIns="0" rIns="0" bIns="0" rtlCol="0" anchor="t"/>
          <a:lstStyle/>
          <a:p>
            <a:pPr marL="0" indent="0" algn="ctr">
              <a:lnSpc>
                <a:spcPts val="2250"/>
              </a:lnSpc>
              <a:buNone/>
            </a:pPr>
            <a:r>
              <a:rPr lang="en-US" sz="1500" b="1" dirty="0">
                <a:solidFill>
                  <a:srgbClr val="000000"/>
                </a:solidFill>
                <a:latin typeface="Manrope" pitchFamily="34" charset="0"/>
                <a:ea typeface="Manrope" pitchFamily="34" charset="-122"/>
                <a:cs typeface="Manrope" pitchFamily="34" charset="-120"/>
              </a:rPr>
              <a:t>Knowledge Base</a:t>
            </a:r>
            <a:endParaRPr lang="en-US" sz="1500" dirty="0"/>
          </a:p>
        </p:txBody>
      </p:sp>
      <p:sp>
        <p:nvSpPr>
          <p:cNvPr id="41" name="Text 36"/>
          <p:cNvSpPr/>
          <p:nvPr/>
        </p:nvSpPr>
        <p:spPr>
          <a:xfrm>
            <a:off x="2367826" y="3565773"/>
            <a:ext cx="291465" cy="342900"/>
          </a:xfrm>
          <a:prstGeom prst="rect">
            <a:avLst/>
          </a:prstGeom>
          <a:noFill/>
          <a:ln/>
        </p:spPr>
        <p:txBody>
          <a:bodyPr wrap="square" lIns="0" tIns="0" rIns="0" bIns="0" rtlCol="0" anchor="t"/>
          <a:lstStyle/>
          <a:p>
            <a:pPr marL="0" indent="0" algn="ctr">
              <a:lnSpc>
                <a:spcPts val="2700"/>
              </a:lnSpc>
              <a:buNone/>
            </a:pPr>
            <a:r>
              <a:rPr lang="en-US" sz="2250" dirty="0">
                <a:solidFill>
                  <a:srgbClr val="102033"/>
                </a:solidFill>
                <a:latin typeface="Manrope" pitchFamily="34" charset="0"/>
                <a:ea typeface="Manrope" pitchFamily="34" charset="-122"/>
                <a:cs typeface="Manrope" pitchFamily="34" charset="-120"/>
              </a:rPr>
              <a:t>🎫</a:t>
            </a:r>
            <a:endParaRPr lang="en-US" sz="2250" dirty="0"/>
          </a:p>
        </p:txBody>
      </p:sp>
      <p:sp>
        <p:nvSpPr>
          <p:cNvPr id="42" name="Text 37"/>
          <p:cNvSpPr/>
          <p:nvPr/>
        </p:nvSpPr>
        <p:spPr>
          <a:xfrm>
            <a:off x="2158942" y="3984873"/>
            <a:ext cx="709231" cy="285750"/>
          </a:xfrm>
          <a:prstGeom prst="rect">
            <a:avLst/>
          </a:prstGeom>
          <a:noFill/>
          <a:ln/>
        </p:spPr>
        <p:txBody>
          <a:bodyPr wrap="square" lIns="0" tIns="0" rIns="0" bIns="0" rtlCol="0" anchor="t"/>
          <a:lstStyle/>
          <a:p>
            <a:pPr marL="0" indent="0" algn="ctr">
              <a:lnSpc>
                <a:spcPts val="2250"/>
              </a:lnSpc>
              <a:buNone/>
            </a:pPr>
            <a:r>
              <a:rPr lang="en-US" sz="1500" b="1" dirty="0">
                <a:solidFill>
                  <a:srgbClr val="000000"/>
                </a:solidFill>
                <a:latin typeface="Manrope" pitchFamily="34" charset="0"/>
                <a:ea typeface="Manrope" pitchFamily="34" charset="-122"/>
                <a:cs typeface="Manrope" pitchFamily="34" charset="-120"/>
              </a:rPr>
              <a:t>Tickets</a:t>
            </a:r>
            <a:endParaRPr lang="en-US" sz="1500" dirty="0"/>
          </a:p>
        </p:txBody>
      </p:sp>
      <p:sp>
        <p:nvSpPr>
          <p:cNvPr id="43" name="Text 38"/>
          <p:cNvSpPr/>
          <p:nvPr/>
        </p:nvSpPr>
        <p:spPr>
          <a:xfrm>
            <a:off x="3707130" y="3565773"/>
            <a:ext cx="291465" cy="342900"/>
          </a:xfrm>
          <a:prstGeom prst="rect">
            <a:avLst/>
          </a:prstGeom>
          <a:noFill/>
          <a:ln/>
        </p:spPr>
        <p:txBody>
          <a:bodyPr wrap="square" lIns="0" tIns="0" rIns="0" bIns="0" rtlCol="0" anchor="t"/>
          <a:lstStyle/>
          <a:p>
            <a:pPr marL="0" indent="0" algn="ctr">
              <a:lnSpc>
                <a:spcPts val="2700"/>
              </a:lnSpc>
              <a:buNone/>
            </a:pPr>
            <a:r>
              <a:rPr lang="en-US" sz="2250" dirty="0">
                <a:solidFill>
                  <a:srgbClr val="102033"/>
                </a:solidFill>
                <a:latin typeface="Manrope" pitchFamily="34" charset="0"/>
                <a:ea typeface="Manrope" pitchFamily="34" charset="-122"/>
                <a:cs typeface="Manrope" pitchFamily="34" charset="-120"/>
              </a:rPr>
              <a:t>🔗</a:t>
            </a:r>
            <a:endParaRPr lang="en-US" sz="2250" dirty="0"/>
          </a:p>
        </p:txBody>
      </p:sp>
      <p:sp>
        <p:nvSpPr>
          <p:cNvPr id="44" name="Text 39"/>
          <p:cNvSpPr/>
          <p:nvPr/>
        </p:nvSpPr>
        <p:spPr>
          <a:xfrm>
            <a:off x="3643979" y="3984873"/>
            <a:ext cx="417767" cy="285750"/>
          </a:xfrm>
          <a:prstGeom prst="rect">
            <a:avLst/>
          </a:prstGeom>
          <a:noFill/>
          <a:ln/>
        </p:spPr>
        <p:txBody>
          <a:bodyPr wrap="square" lIns="0" tIns="0" rIns="0" bIns="0" rtlCol="0" anchor="t"/>
          <a:lstStyle/>
          <a:p>
            <a:pPr marL="0" indent="0" algn="ctr">
              <a:lnSpc>
                <a:spcPts val="2250"/>
              </a:lnSpc>
              <a:buNone/>
            </a:pPr>
            <a:r>
              <a:rPr lang="en-US" sz="1500" b="1" dirty="0">
                <a:solidFill>
                  <a:srgbClr val="000000"/>
                </a:solidFill>
                <a:latin typeface="Manrope" pitchFamily="34" charset="0"/>
                <a:ea typeface="Manrope" pitchFamily="34" charset="-122"/>
                <a:cs typeface="Manrope" pitchFamily="34" charset="-120"/>
              </a:rPr>
              <a:t>APIs</a:t>
            </a:r>
            <a:endParaRPr lang="en-US" sz="1500" dirty="0"/>
          </a:p>
        </p:txBody>
      </p:sp>
      <p:sp>
        <p:nvSpPr>
          <p:cNvPr id="45" name="Text 40"/>
          <p:cNvSpPr/>
          <p:nvPr/>
        </p:nvSpPr>
        <p:spPr>
          <a:xfrm>
            <a:off x="5046285" y="3565773"/>
            <a:ext cx="291465" cy="342900"/>
          </a:xfrm>
          <a:prstGeom prst="rect">
            <a:avLst/>
          </a:prstGeom>
          <a:noFill/>
          <a:ln/>
        </p:spPr>
        <p:txBody>
          <a:bodyPr wrap="square" lIns="0" tIns="0" rIns="0" bIns="0" rtlCol="0" anchor="t"/>
          <a:lstStyle/>
          <a:p>
            <a:pPr marL="0" indent="0" algn="ctr">
              <a:lnSpc>
                <a:spcPts val="2700"/>
              </a:lnSpc>
              <a:buNone/>
            </a:pPr>
            <a:r>
              <a:rPr lang="en-US" sz="2250" dirty="0">
                <a:solidFill>
                  <a:srgbClr val="102033"/>
                </a:solidFill>
                <a:latin typeface="Manrope" pitchFamily="34" charset="0"/>
                <a:ea typeface="Manrope" pitchFamily="34" charset="-122"/>
                <a:cs typeface="Manrope" pitchFamily="34" charset="-120"/>
              </a:rPr>
              <a:t>🗄️</a:t>
            </a:r>
            <a:endParaRPr lang="en-US" sz="2250" dirty="0"/>
          </a:p>
        </p:txBody>
      </p:sp>
      <p:sp>
        <p:nvSpPr>
          <p:cNvPr id="46" name="Text 41"/>
          <p:cNvSpPr/>
          <p:nvPr/>
        </p:nvSpPr>
        <p:spPr>
          <a:xfrm>
            <a:off x="4682103" y="3984873"/>
            <a:ext cx="1020127" cy="285750"/>
          </a:xfrm>
          <a:prstGeom prst="rect">
            <a:avLst/>
          </a:prstGeom>
          <a:noFill/>
          <a:ln/>
        </p:spPr>
        <p:txBody>
          <a:bodyPr wrap="square" lIns="0" tIns="0" rIns="0" bIns="0" rtlCol="0" anchor="t"/>
          <a:lstStyle/>
          <a:p>
            <a:pPr marL="0" indent="0" algn="ctr">
              <a:lnSpc>
                <a:spcPts val="2250"/>
              </a:lnSpc>
              <a:buNone/>
            </a:pPr>
            <a:r>
              <a:rPr lang="en-US" sz="1500" b="1" dirty="0">
                <a:solidFill>
                  <a:srgbClr val="000000"/>
                </a:solidFill>
                <a:latin typeface="Manrope" pitchFamily="34" charset="0"/>
                <a:ea typeface="Manrope" pitchFamily="34" charset="-122"/>
                <a:cs typeface="Manrope" pitchFamily="34" charset="-120"/>
              </a:rPr>
              <a:t>Databases</a:t>
            </a:r>
            <a:endParaRPr lang="en-US" sz="1500" dirty="0"/>
          </a:p>
        </p:txBody>
      </p:sp>
      <p:sp>
        <p:nvSpPr>
          <p:cNvPr id="47" name="Text 42"/>
          <p:cNvSpPr/>
          <p:nvPr/>
        </p:nvSpPr>
        <p:spPr>
          <a:xfrm>
            <a:off x="6404670" y="3060948"/>
            <a:ext cx="2172325" cy="200025"/>
          </a:xfrm>
          <a:prstGeom prst="rect">
            <a:avLst/>
          </a:prstGeom>
          <a:noFill/>
          <a:ln/>
        </p:spPr>
        <p:txBody>
          <a:bodyPr wrap="square" lIns="0" tIns="0" rIns="0" bIns="0" rtlCol="0" anchor="t"/>
          <a:lstStyle/>
          <a:p>
            <a:pPr marL="0" indent="0">
              <a:lnSpc>
                <a:spcPts val="1575"/>
              </a:lnSpc>
              <a:buNone/>
            </a:pPr>
            <a:r>
              <a:rPr lang="en-US" sz="1050" b="1" dirty="0">
                <a:solidFill>
                  <a:srgbClr val="000000"/>
                </a:solidFill>
                <a:latin typeface="Manrope" pitchFamily="34" charset="0"/>
                <a:ea typeface="Manrope" pitchFamily="34" charset="-122"/>
                <a:cs typeface="Manrope" pitchFamily="34" charset="-120"/>
              </a:rPr>
              <a:t>Key takeaway</a:t>
            </a:r>
            <a:endParaRPr lang="en-US" sz="1050" dirty="0"/>
          </a:p>
        </p:txBody>
      </p:sp>
      <p:sp>
        <p:nvSpPr>
          <p:cNvPr id="48" name="Text 43"/>
          <p:cNvSpPr/>
          <p:nvPr/>
        </p:nvSpPr>
        <p:spPr>
          <a:xfrm>
            <a:off x="6404670" y="3337173"/>
            <a:ext cx="2129730" cy="1666875"/>
          </a:xfrm>
          <a:prstGeom prst="rect">
            <a:avLst/>
          </a:prstGeom>
          <a:noFill/>
          <a:ln/>
        </p:spPr>
        <p:txBody>
          <a:bodyPr wrap="square" lIns="0" tIns="0" rIns="0" bIns="0" rtlCol="0" anchor="t"/>
          <a:lstStyle/>
          <a:p>
            <a:pPr marL="0" indent="0">
              <a:lnSpc>
                <a:spcPts val="2625"/>
              </a:lnSpc>
              <a:buNone/>
            </a:pPr>
            <a:r>
              <a:rPr lang="en-US" sz="2100" b="1" dirty="0">
                <a:solidFill>
                  <a:srgbClr val="FFFFFF"/>
                </a:solidFill>
                <a:latin typeface="Manrope" pitchFamily="34" charset="0"/>
                <a:ea typeface="Manrope" pitchFamily="34" charset="-122"/>
                <a:cs typeface="Manrope" pitchFamily="34" charset="-120"/>
              </a:rPr>
              <a:t>Build once, consume through the assistant or platform.</a:t>
            </a:r>
            <a:endParaRPr lang="en-US" sz="2100" dirty="0"/>
          </a:p>
        </p:txBody>
      </p:sp>
      <p:sp>
        <p:nvSpPr>
          <p:cNvPr id="49" name="Text 44"/>
          <p:cNvSpPr/>
          <p:nvPr/>
        </p:nvSpPr>
        <p:spPr>
          <a:xfrm>
            <a:off x="6404670" y="5118348"/>
            <a:ext cx="2129730" cy="1493044"/>
          </a:xfrm>
          <a:prstGeom prst="rect">
            <a:avLst/>
          </a:prstGeom>
          <a:noFill/>
          <a:ln/>
        </p:spPr>
        <p:txBody>
          <a:bodyPr wrap="square" lIns="0" tIns="0" rIns="0" bIns="0" rtlCol="0" anchor="t"/>
          <a:lstStyle/>
          <a:p>
            <a:pPr marL="0" indent="0">
              <a:lnSpc>
                <a:spcPts val="1959"/>
              </a:lnSpc>
              <a:buNone/>
            </a:pPr>
            <a:r>
              <a:rPr lang="en-US" sz="1425" dirty="0">
                <a:solidFill>
                  <a:srgbClr val="000000"/>
                </a:solidFill>
                <a:latin typeface="Manrope" pitchFamily="34" charset="0"/>
                <a:ea typeface="Manrope" pitchFamily="34" charset="-122"/>
                <a:cs typeface="Manrope" pitchFamily="34" charset="-120"/>
              </a:rPr>
              <a:t>The MCP server powers the experience behind the scenes, so the customer does not have to figure out a direct integration.</a:t>
            </a:r>
            <a:endParaRPr lang="en-US" sz="14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4F85B-FA82-CCF5-A02F-2D18B0E56DB6}"/>
              </a:ext>
            </a:extLst>
          </p:cNvPr>
          <p:cNvSpPr txBox="1"/>
          <p:nvPr/>
        </p:nvSpPr>
        <p:spPr>
          <a:xfrm>
            <a:off x="240631" y="292331"/>
            <a:ext cx="8844929" cy="4154984"/>
          </a:xfrm>
          <a:prstGeom prst="rect">
            <a:avLst/>
          </a:prstGeom>
          <a:noFill/>
        </p:spPr>
        <p:txBody>
          <a:bodyPr wrap="square">
            <a:spAutoFit/>
          </a:bodyPr>
          <a:lstStyle/>
          <a:p>
            <a:pPr>
              <a:buNone/>
            </a:pPr>
            <a:r>
              <a:rPr lang="en-US" sz="1200" b="1" dirty="0"/>
              <a:t>Slide message</a:t>
            </a:r>
          </a:p>
          <a:p>
            <a:pPr>
              <a:buNone/>
            </a:pPr>
            <a:r>
              <a:rPr lang="en-US" sz="1200" dirty="0"/>
              <a:t>The slide shows a left-to-right flow from users, to the app or AI assistant, to the MCP server, and then to enterprise systems, which makes the consumption model much clearer for business stakeholders. It also includes an explicit callout that says the MCP server is not used directly by the customer and a takeaway banner reinforcing that the app remains the customer-facing product.</a:t>
            </a:r>
          </a:p>
          <a:p>
            <a:pPr>
              <a:buNone/>
            </a:pPr>
            <a:endParaRPr lang="en-US" sz="1200" dirty="0"/>
          </a:p>
          <a:p>
            <a:pPr>
              <a:buNone/>
            </a:pPr>
            <a:r>
              <a:rPr lang="en-US" sz="1200" b="1" dirty="0"/>
              <a:t>Best way to present it</a:t>
            </a:r>
          </a:p>
          <a:p>
            <a:pPr>
              <a:buNone/>
            </a:pPr>
            <a:r>
              <a:rPr lang="en-US" sz="1200" dirty="0"/>
              <a:t>Use this talk track alongside the slide: “An MCP server is like a standardized adapter layer for our tools and data; customers interact with the app or assistant, not the MCP server itself.” “So when we build an MCP server, we are enabling a reusable capability behind the scenes, not handing customers a raw integration problem to solve.”</a:t>
            </a:r>
          </a:p>
          <a:p>
            <a:pPr>
              <a:buNone/>
            </a:pPr>
            <a:endParaRPr lang="en-US" sz="1200" dirty="0"/>
          </a:p>
          <a:p>
            <a:pPr>
              <a:buNone/>
            </a:pPr>
            <a:r>
              <a:rPr lang="en-US" sz="1200" b="1" dirty="0"/>
              <a:t>Optional wording</a:t>
            </a:r>
          </a:p>
          <a:p>
            <a:pPr>
              <a:buNone/>
            </a:pPr>
            <a:r>
              <a:rPr lang="en-US" sz="1200" dirty="0"/>
              <a:t>A concise executive-friendly line you can say is: “We build the MCP capability once, and the user experience consumes it through the product layer.” Another strong line is: “The MCP server is infrastructure for enablement, not the end-user interface.”</a:t>
            </a:r>
          </a:p>
          <a:p>
            <a:pPr>
              <a:buNone/>
            </a:pPr>
            <a:endParaRPr lang="en-US" sz="1200" dirty="0"/>
          </a:p>
          <a:p>
            <a:r>
              <a:rPr lang="en-US" sz="1200" dirty="0"/>
              <a:t>A clean line for managers is: “An MCP server can be exposed directly, but only customers with an MCP-capable tool can use it as-is.” Another good line is: “If we deliver the app layer, the customer gets a finished experience; if we deliver only the MCP server, the customer still needs a compatible client.”</a:t>
            </a:r>
          </a:p>
          <a:p>
            <a:endParaRPr lang="en-US" sz="1200" dirty="0"/>
          </a:p>
          <a:p>
            <a:r>
              <a:rPr lang="en-US" sz="1200" b="1" dirty="0"/>
              <a:t>Nuance to keep</a:t>
            </a:r>
          </a:p>
          <a:p>
            <a:r>
              <a:rPr lang="en-US" sz="1200" dirty="0"/>
              <a:t>The important nuance is that exposing the server is not wrong; it just shifts some integration responsibility to the customer side. That distinction is worth saying explicitly in your presentation so managers do not assume every MCP deliverable has the same adoption model.</a:t>
            </a:r>
          </a:p>
          <a:p>
            <a:pPr>
              <a:buNone/>
            </a:pPr>
            <a:endParaRPr lang="en-US" sz="1200" dirty="0"/>
          </a:p>
        </p:txBody>
      </p:sp>
    </p:spTree>
    <p:extLst>
      <p:ext uri="{BB962C8B-B14F-4D97-AF65-F5344CB8AC3E}">
        <p14:creationId xmlns:p14="http://schemas.microsoft.com/office/powerpoint/2010/main" val="3369788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465</Words>
  <Application>Microsoft Office PowerPoint</Application>
  <PresentationFormat>On-screen Show (16:9)</PresentationFormat>
  <Paragraphs>46</Paragraphs>
  <Slides>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Manrope</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Juan Padilla</cp:lastModifiedBy>
  <cp:revision>3</cp:revision>
  <dcterms:created xsi:type="dcterms:W3CDTF">2026-07-09T19:22:54Z</dcterms:created>
  <dcterms:modified xsi:type="dcterms:W3CDTF">2026-07-09T19:40:44Z</dcterms:modified>
</cp:coreProperties>
</file>